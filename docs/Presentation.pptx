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image.png">    </p:cNvPr>
          <p:cNvPicPr>
            <a:picLocks noChangeAspect="1"/>
          </p:cNvPicPr>
          <p:nvPr/>
        </p:nvPicPr>
        <p:blipFill>
          <a:blip r:embed="rId1"/>
          <a:srcRect l="6728" r="6728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0763" y="2368153"/>
            <a:ext cx="7610475" cy="16019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2614"/>
              </a:lnSpc>
            </a:pPr>
            <a:r>
              <a:rPr lang="en-US" sz="10800" spc="-64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AdmitGuard 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481263" y="3889415"/>
            <a:ext cx="7229475" cy="4120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3246"/>
              </a:lnSpc>
            </a:pPr>
            <a:r>
              <a:rPr lang="en-US" sz="2340" spc="-47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Admission Data Validation &amp; Compliance System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FFFFFF"/>
          </a:solidFill>
          <a:ln>
            <a:miter lim="800000"/>
          </a:ln>
        </p:spPr>
      </p:sp>
      <p:sp>
        <p:nvSpPr>
          <p:cNvPr id="7" name="Text 4"/>
          <p:cNvSpPr/>
          <p:nvPr/>
        </p:nvSpPr>
        <p:spPr>
          <a:xfrm>
            <a:off x="285750" y="5825847"/>
            <a:ext cx="6029325" cy="45612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3592"/>
              </a:lnSpc>
            </a:pPr>
            <a:r>
              <a:rPr lang="en-US" sz="3075" spc="-184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Yash Kiritkumar Parmar - 26171033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5750" y="6304836"/>
            <a:ext cx="5648325" cy="33682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653"/>
              </a:lnSpc>
              <a:spcBef>
                <a:spcPts val="177"/>
              </a:spcBef>
            </a:pPr>
            <a:r>
              <a:rPr lang="en-US" sz="1913" spc="-38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PG Diploma, CAA, IIT-Gandhinagar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Current Admission Woes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Challenges of Manual Data Entry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990725"/>
            <a:ext cx="2667000" cy="2028825"/>
          </a:xfrm>
          <a:prstGeom prst="rect">
            <a:avLst/>
          </a:prstGeom>
          <a:solidFill>
            <a:srgbClr val="FFD9AD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2371368"/>
            <a:ext cx="2286000" cy="5493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64"/>
              </a:lnSpc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Manual Data Entry in</a:t>
            </a:r>
            <a:b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Excel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989898"/>
            <a:ext cx="2286000" cy="50196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76"/>
              </a:lnSpc>
              <a:spcBef>
                <a:spcPts val="534"/>
              </a:spcBef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Leads to errors and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inefficiencies.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619250" y="175260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C17A"/>
            </a:solidFill>
            <a:prstDash val="solid"/>
            <a:miter lim="800000"/>
          </a:ln>
        </p:spPr>
      </p:sp>
      <p:sp>
        <p:nvSpPr>
          <p:cNvPr id="8" name="Text 6"/>
          <p:cNvSpPr/>
          <p:nvPr/>
        </p:nvSpPr>
        <p:spPr>
          <a:xfrm>
            <a:off x="1571625" y="1843088"/>
            <a:ext cx="571500" cy="3002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365"/>
              </a:lnSpc>
            </a:pPr>
            <a:r>
              <a:rPr lang="en-US" sz="2025" spc="-122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33750" y="1990725"/>
            <a:ext cx="2667000" cy="2028825"/>
          </a:xfrm>
          <a:prstGeom prst="rect">
            <a:avLst/>
          </a:prstGeom>
          <a:solidFill>
            <a:srgbClr val="FEC088"/>
          </a:solidFill>
          <a:ln>
            <a:miter lim="800000"/>
          </a:ln>
        </p:spPr>
      </p:sp>
      <p:sp>
        <p:nvSpPr>
          <p:cNvPr id="10" name="Text 8"/>
          <p:cNvSpPr/>
          <p:nvPr/>
        </p:nvSpPr>
        <p:spPr>
          <a:xfrm>
            <a:off x="3619500" y="2371368"/>
            <a:ext cx="2286000" cy="5493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64"/>
              </a:lnSpc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 Real-Time</a:t>
            </a:r>
            <a:b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Validation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19500" y="2989898"/>
            <a:ext cx="2377558" cy="7529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76"/>
              </a:lnSpc>
              <a:spcBef>
                <a:spcPts val="534"/>
              </a:spcBef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Errors are discovered late in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process, increasing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rework and ineficiency.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476750" y="175260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EA555"/>
            </a:solidFill>
            <a:prstDash val="solid"/>
            <a:miter lim="800000"/>
          </a:ln>
        </p:spPr>
      </p:sp>
      <p:sp>
        <p:nvSpPr>
          <p:cNvPr id="13" name="Text 11"/>
          <p:cNvSpPr/>
          <p:nvPr/>
        </p:nvSpPr>
        <p:spPr>
          <a:xfrm>
            <a:off x="4429125" y="1843088"/>
            <a:ext cx="571500" cy="3002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365"/>
              </a:lnSpc>
            </a:pPr>
            <a:r>
              <a:rPr lang="en-US" sz="2025" spc="-122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91250" y="1990725"/>
            <a:ext cx="2667000" cy="2028825"/>
          </a:xfrm>
          <a:prstGeom prst="rect">
            <a:avLst/>
          </a:prstGeom>
          <a:solidFill>
            <a:srgbClr val="FD864D"/>
          </a:solidFill>
          <a:ln>
            <a:miter lim="800000"/>
          </a:ln>
        </p:spPr>
      </p:sp>
      <p:sp>
        <p:nvSpPr>
          <p:cNvPr id="15" name="Text 13"/>
          <p:cNvSpPr/>
          <p:nvPr/>
        </p:nvSpPr>
        <p:spPr>
          <a:xfrm>
            <a:off x="6477000" y="2371368"/>
            <a:ext cx="2286000" cy="5493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64"/>
              </a:lnSpc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Lack of Exception</a:t>
            </a:r>
            <a:b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Tracking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77000" y="2989898"/>
            <a:ext cx="2286000" cy="7529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76"/>
              </a:lnSpc>
              <a:spcBef>
                <a:spcPts val="534"/>
              </a:spcBef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Difficulty in managing and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reviewing borderline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candidates.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334250" y="175260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C641B"/>
            </a:solidFill>
            <a:prstDash val="solid"/>
            <a:miter lim="800000"/>
          </a:ln>
        </p:spPr>
      </p:sp>
      <p:sp>
        <p:nvSpPr>
          <p:cNvPr id="18" name="Text 16"/>
          <p:cNvSpPr/>
          <p:nvPr/>
        </p:nvSpPr>
        <p:spPr>
          <a:xfrm>
            <a:off x="7286625" y="1843088"/>
            <a:ext cx="571500" cy="3002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365"/>
              </a:lnSpc>
            </a:pPr>
            <a:r>
              <a:rPr lang="en-US" sz="2025" spc="-122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9048750" y="1990725"/>
            <a:ext cx="2667000" cy="2028825"/>
          </a:xfrm>
          <a:prstGeom prst="rect">
            <a:avLst/>
          </a:prstGeom>
          <a:solidFill>
            <a:srgbClr val="FF8000"/>
          </a:solidFill>
          <a:ln>
            <a:miter lim="800000"/>
          </a:ln>
        </p:spPr>
      </p:sp>
      <p:sp>
        <p:nvSpPr>
          <p:cNvPr id="20" name="Text 18"/>
          <p:cNvSpPr/>
          <p:nvPr/>
        </p:nvSpPr>
        <p:spPr>
          <a:xfrm>
            <a:off x="9334500" y="2371368"/>
            <a:ext cx="2323259" cy="2746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64"/>
              </a:lnSpc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 Risk of Data Loss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334500" y="2715220"/>
            <a:ext cx="2286000" cy="7529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76"/>
              </a:lnSpc>
              <a:spcBef>
                <a:spcPts val="534"/>
              </a:spcBef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Potential for compliance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gaps and incomplete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records.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0191750" y="175260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C6600"/>
            </a:solidFill>
            <a:prstDash val="solid"/>
            <a:miter lim="800000"/>
          </a:ln>
        </p:spPr>
      </p:sp>
      <p:sp>
        <p:nvSpPr>
          <p:cNvPr id="23" name="Text 21"/>
          <p:cNvSpPr/>
          <p:nvPr/>
        </p:nvSpPr>
        <p:spPr>
          <a:xfrm>
            <a:off x="10144125" y="1843088"/>
            <a:ext cx="571500" cy="3002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365"/>
              </a:lnSpc>
            </a:pPr>
            <a:r>
              <a:rPr lang="en-US" sz="2025" spc="-122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6250" y="4352925"/>
            <a:ext cx="2667000" cy="2028825"/>
          </a:xfrm>
          <a:prstGeom prst="rect">
            <a:avLst/>
          </a:prstGeom>
          <a:solidFill>
            <a:srgbClr val="FF797A"/>
          </a:solidFill>
          <a:ln>
            <a:miter lim="800000"/>
          </a:ln>
        </p:spPr>
      </p:sp>
      <p:sp>
        <p:nvSpPr>
          <p:cNvPr id="25" name="Text 23"/>
          <p:cNvSpPr/>
          <p:nvPr/>
        </p:nvSpPr>
        <p:spPr>
          <a:xfrm>
            <a:off x="762000" y="4733568"/>
            <a:ext cx="2286000" cy="2746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64"/>
              </a:lnSpc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Invalid Data Entries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62000" y="5077420"/>
            <a:ext cx="2286000" cy="10039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76"/>
              </a:lnSpc>
              <a:spcBef>
                <a:spcPts val="534"/>
              </a:spcBef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Common errors include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incorrect phone numbers,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emails, and duplicate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entries.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619250" y="411480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4647"/>
            </a:solidFill>
            <a:prstDash val="solid"/>
            <a:miter lim="800000"/>
          </a:ln>
        </p:spPr>
      </p:sp>
      <p:sp>
        <p:nvSpPr>
          <p:cNvPr id="28" name="Text 26"/>
          <p:cNvSpPr/>
          <p:nvPr/>
        </p:nvSpPr>
        <p:spPr>
          <a:xfrm>
            <a:off x="1571625" y="4205288"/>
            <a:ext cx="571500" cy="3002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365"/>
              </a:lnSpc>
            </a:pPr>
            <a:r>
              <a:rPr lang="en-US" sz="2025" spc="-122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333750" y="4352925"/>
            <a:ext cx="2667000" cy="2028825"/>
          </a:xfrm>
          <a:prstGeom prst="rect">
            <a:avLst/>
          </a:prstGeom>
          <a:solidFill>
            <a:srgbClr val="FFD9AD"/>
          </a:solidFill>
          <a:ln>
            <a:miter lim="800000"/>
          </a:ln>
        </p:spPr>
      </p:sp>
      <p:sp>
        <p:nvSpPr>
          <p:cNvPr id="30" name="Text 28"/>
          <p:cNvSpPr/>
          <p:nvPr/>
        </p:nvSpPr>
        <p:spPr>
          <a:xfrm>
            <a:off x="3619500" y="4733568"/>
            <a:ext cx="2286000" cy="5493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64"/>
              </a:lnSpc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Inconsistent Rule</a:t>
            </a:r>
            <a:b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Application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619500" y="5352098"/>
            <a:ext cx="2373508" cy="7529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76"/>
              </a:lnSpc>
              <a:spcBef>
                <a:spcPts val="534"/>
              </a:spcBef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Varying standards due to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different operators applying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rules.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476750" y="411480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C17A"/>
            </a:solidFill>
            <a:prstDash val="solid"/>
            <a:miter lim="800000"/>
          </a:ln>
        </p:spPr>
      </p:sp>
      <p:sp>
        <p:nvSpPr>
          <p:cNvPr id="33" name="Text 31"/>
          <p:cNvSpPr/>
          <p:nvPr/>
        </p:nvSpPr>
        <p:spPr>
          <a:xfrm>
            <a:off x="4429125" y="4205288"/>
            <a:ext cx="571500" cy="3002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365"/>
              </a:lnSpc>
            </a:pPr>
            <a:r>
              <a:rPr lang="en-US" sz="2025" spc="-122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6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191250" y="4352925"/>
            <a:ext cx="2667000" cy="2028825"/>
          </a:xfrm>
          <a:prstGeom prst="rect">
            <a:avLst/>
          </a:prstGeom>
          <a:solidFill>
            <a:srgbClr val="FEC088"/>
          </a:solidFill>
          <a:ln>
            <a:miter lim="800000"/>
          </a:ln>
        </p:spPr>
      </p:sp>
      <p:sp>
        <p:nvSpPr>
          <p:cNvPr id="35" name="Text 33"/>
          <p:cNvSpPr/>
          <p:nvPr/>
        </p:nvSpPr>
        <p:spPr>
          <a:xfrm>
            <a:off x="6477000" y="4733568"/>
            <a:ext cx="2286000" cy="2746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64"/>
              </a:lnSpc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Compliance Gaps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477000" y="5077420"/>
            <a:ext cx="2286000" cy="7529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76"/>
              </a:lnSpc>
              <a:spcBef>
                <a:spcPts val="534"/>
              </a:spcBef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Absence of a clear audit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trail for accreditation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reviews.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7334250" y="411480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EA555"/>
            </a:solidFill>
            <a:prstDash val="solid"/>
            <a:miter lim="800000"/>
          </a:ln>
        </p:spPr>
      </p:sp>
      <p:sp>
        <p:nvSpPr>
          <p:cNvPr id="38" name="Text 36"/>
          <p:cNvSpPr/>
          <p:nvPr/>
        </p:nvSpPr>
        <p:spPr>
          <a:xfrm>
            <a:off x="7286625" y="4205288"/>
            <a:ext cx="571500" cy="3002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365"/>
              </a:lnSpc>
            </a:pPr>
            <a:r>
              <a:rPr lang="en-US" sz="2025" spc="-122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7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9048750" y="4352925"/>
            <a:ext cx="2667000" cy="2028825"/>
          </a:xfrm>
          <a:prstGeom prst="rect">
            <a:avLst/>
          </a:prstGeom>
          <a:solidFill>
            <a:srgbClr val="FD864D"/>
          </a:solidFill>
          <a:ln>
            <a:miter lim="800000"/>
          </a:ln>
        </p:spPr>
      </p:sp>
      <p:sp>
        <p:nvSpPr>
          <p:cNvPr id="40" name="Text 38"/>
          <p:cNvSpPr/>
          <p:nvPr/>
        </p:nvSpPr>
        <p:spPr>
          <a:xfrm>
            <a:off x="9334500" y="4733568"/>
            <a:ext cx="2286000" cy="2746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64"/>
              </a:lnSpc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Lack of Oversight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334500" y="5077420"/>
            <a:ext cx="2298388" cy="7529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76"/>
              </a:lnSpc>
              <a:spcBef>
                <a:spcPts val="534"/>
              </a:spcBef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Borderline candidates may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go unnoticed without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proper tracking.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10191750" y="411480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C641B"/>
            </a:solidFill>
            <a:prstDash val="solid"/>
            <a:miter lim="800000"/>
          </a:ln>
        </p:spPr>
      </p:sp>
      <p:sp>
        <p:nvSpPr>
          <p:cNvPr id="43" name="Text 41"/>
          <p:cNvSpPr/>
          <p:nvPr/>
        </p:nvSpPr>
        <p:spPr>
          <a:xfrm>
            <a:off x="10144125" y="4205288"/>
            <a:ext cx="571500" cy="3002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365"/>
              </a:lnSpc>
            </a:pPr>
            <a:r>
              <a:rPr lang="en-US" sz="2025" spc="-122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8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image.png">    </p:cNvPr>
          <p:cNvPicPr>
            <a:picLocks noChangeAspect="1"/>
          </p:cNvPicPr>
          <p:nvPr/>
        </p:nvPicPr>
        <p:blipFill>
          <a:blip r:embed="rId1"/>
          <a:srcRect l="18750" r="19234" t="-62150" b="-6215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250" y="437436"/>
            <a:ext cx="8467725" cy="2224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52"/>
              </a:lnSpc>
            </a:pPr>
            <a:r>
              <a:rPr lang="en-US" sz="1500" spc="-90" kern="0" dirty="0">
                <a:solidFill>
                  <a:srgbClr val="22AAE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Features &amp; Core Pillars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76250" y="899041"/>
            <a:ext cx="8467725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80"/>
              </a:lnSpc>
              <a:spcBef>
                <a:spcPts val="1846"/>
              </a:spcBef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Solution: AdmitGuard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6250" y="1601986"/>
            <a:ext cx="8467725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  <a:spcBef>
                <a:spcPts val="1132"/>
              </a:spcBef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Features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76250" y="2096453"/>
            <a:ext cx="8848725" cy="167485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1927"/>
              </a:lnSpc>
              <a:spcBef>
                <a:spcPts val="1756"/>
              </a:spcBef>
              <a:buSzPct val="100000"/>
              <a:buChar char="•"/>
            </a:pPr>
            <a:r>
              <a:rPr lang="en-US" sz="1650" spc="-99" kern="0" dirty="0">
                <a:solidFill>
                  <a:srgbClr val="FFFFFF"/>
                </a:solidFill>
                <a:latin typeface="Inter Extra Bold" pitchFamily="34" charset="0"/>
                <a:ea typeface="Inter Extra Bold" pitchFamily="34" charset="-122"/>
                <a:cs typeface="Inter Extra Bold" pitchFamily="34" charset="-120"/>
              </a:rPr>
              <a:t>Real-time Validation</a:t>
            </a:r>
            <a:pPr algn="l">
              <a:lnSpc>
                <a:spcPts val="1927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Instantaneous verification of admission eligibility rules.</a:t>
            </a:r>
            <a:endParaRPr lang="en-US" dirty="0"/>
          </a:p>
          <a:p>
            <a:pPr algn="l" marL="241300" indent="-241300">
              <a:lnSpc>
                <a:spcPts val="1927"/>
              </a:lnSpc>
              <a:spcBef>
                <a:spcPts val="1791"/>
              </a:spcBef>
              <a:buSzPct val="100000"/>
              <a:buChar char="•"/>
            </a:pPr>
            <a:r>
              <a:rPr lang="en-US" sz="1650" spc="-99" kern="0" dirty="0">
                <a:solidFill>
                  <a:srgbClr val="FFFFFF"/>
                </a:solidFill>
                <a:latin typeface="Inter Extra Bold" pitchFamily="34" charset="0"/>
                <a:ea typeface="Inter Extra Bold" pitchFamily="34" charset="-122"/>
                <a:cs typeface="Inter Extra Bold" pitchFamily="34" charset="-120"/>
              </a:rPr>
              <a:t>Structured Exception Handling</a:t>
            </a:r>
            <a:pPr algn="l">
              <a:lnSpc>
                <a:spcPts val="1927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Documented rationale for all exceptions.</a:t>
            </a:r>
            <a:endParaRPr lang="en-US" dirty="0"/>
          </a:p>
          <a:p>
            <a:pPr algn="l" marL="241300" indent="-241300">
              <a:lnSpc>
                <a:spcPts val="1927"/>
              </a:lnSpc>
              <a:spcBef>
                <a:spcPts val="1791"/>
              </a:spcBef>
              <a:buSzPct val="100000"/>
              <a:buChar char="•"/>
            </a:pPr>
            <a:r>
              <a:rPr lang="en-US" sz="1650" spc="-99" kern="0" dirty="0">
                <a:solidFill>
                  <a:srgbClr val="FFFFFF"/>
                </a:solidFill>
                <a:latin typeface="Inter Extra Bold" pitchFamily="34" charset="0"/>
                <a:ea typeface="Inter Extra Bold" pitchFamily="34" charset="-122"/>
                <a:cs typeface="Inter Extra Bold" pitchFamily="34" charset="-120"/>
              </a:rPr>
              <a:t>Complete Audit Trails</a:t>
            </a:r>
            <a:pPr algn="l">
              <a:lnSpc>
                <a:spcPts val="1927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Comprehensive logging of all actions for transparency and accountability.</a:t>
            </a:r>
            <a:endParaRPr lang="en-US" dirty="0"/>
          </a:p>
          <a:p>
            <a:pPr algn="l" marL="241300" indent="-241300">
              <a:lnSpc>
                <a:spcPts val="1927"/>
              </a:lnSpc>
              <a:spcBef>
                <a:spcPts val="1791"/>
              </a:spcBef>
              <a:buSzPct val="100000"/>
              <a:buChar char="•"/>
            </a:pPr>
            <a:r>
              <a:rPr lang="en-US" sz="1650" spc="-99" kern="0" dirty="0">
                <a:solidFill>
                  <a:srgbClr val="FFFFFF"/>
                </a:solidFill>
                <a:latin typeface="Inter Extra Bold" pitchFamily="34" charset="0"/>
                <a:ea typeface="Inter Extra Bold" pitchFamily="34" charset="-122"/>
                <a:cs typeface="Inter Extra Bold" pitchFamily="34" charset="-120"/>
              </a:rPr>
              <a:t>Managerial Oversight</a:t>
            </a:r>
            <a:pPr algn="l">
              <a:lnSpc>
                <a:spcPts val="1927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: Dedicated admin panel for effective control and monitoring.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Architecture Overview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Robust and Efficient Tech Stack</a:t>
            </a: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870359"/>
            <a:ext cx="2952750" cy="1200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9125" y="3381018"/>
            <a:ext cx="2381250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Architecture Pattern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4191833"/>
            <a:ext cx="2503752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Browser (SPA) ↔ Flask API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Server ↔ SQLite Database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714500" y="2632234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05" y="2775479"/>
            <a:ext cx="171450" cy="1905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870359"/>
            <a:ext cx="2952750" cy="12001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67125" y="3381018"/>
            <a:ext cx="2095500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Validators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524250" y="4191833"/>
            <a:ext cx="2381250" cy="264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Strict + Soft Validators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4476750" y="2632234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969" y="2755948"/>
            <a:ext cx="247650" cy="238125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0" y="2870359"/>
            <a:ext cx="2952750" cy="12001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29375" y="3381018"/>
            <a:ext cx="2095500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Tech Stack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6286500" y="4191833"/>
            <a:ext cx="2489238" cy="10567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Backend: Python 3, Flask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Database: SQLite Frontend: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Vanilla HTML5, CSS3,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JavaScript</a:t>
            </a:r>
            <a:endParaRPr lang="en-US" dirty="0"/>
          </a:p>
        </p:txBody>
      </p:sp>
      <p:sp>
        <p:nvSpPr>
          <p:cNvPr id="17" name="Shape 10"/>
          <p:cNvSpPr/>
          <p:nvPr/>
        </p:nvSpPr>
        <p:spPr>
          <a:xfrm>
            <a:off x="7239000" y="2632234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674" y="2781064"/>
            <a:ext cx="200025" cy="180975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2870359"/>
            <a:ext cx="2952750" cy="12001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191625" y="3247668"/>
            <a:ext cx="2095500" cy="5338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Implementation</a:t>
            </a:r>
            <a:b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Details</a:t>
            </a: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9048750" y="4191833"/>
            <a:ext cx="2404943" cy="10567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Zero client-side validation.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Secure Flask sessions for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authentication. WAL mode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SQLite for concurrency.</a:t>
            </a:r>
            <a:endParaRPr lang="en-US" dirty="0"/>
          </a:p>
        </p:txBody>
      </p:sp>
      <p:sp>
        <p:nvSpPr>
          <p:cNvPr id="22" name="Shape 13"/>
          <p:cNvSpPr/>
          <p:nvPr/>
        </p:nvSpPr>
        <p:spPr>
          <a:xfrm>
            <a:off x="10001250" y="2632234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6116" y="2781062"/>
            <a:ext cx="2095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Strict Validation Rules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 Non-Negotiable Rules for Form Submission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52600"/>
            <a:ext cx="11239500" cy="38957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752600"/>
            <a:ext cx="11258550" cy="39052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752600"/>
            <a:ext cx="11239500" cy="3905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752600"/>
            <a:ext cx="4506809" cy="623316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Field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983059" y="1752600"/>
            <a:ext cx="6732691" cy="623316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Rule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76250" y="2375916"/>
            <a:ext cx="4506809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Full Name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983059" y="2375916"/>
            <a:ext cx="6732691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Required, ≥2 chars, no numbers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76250" y="2843403"/>
            <a:ext cx="4506809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Email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983059" y="2843403"/>
            <a:ext cx="6732691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Valid format, unique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6250" y="3310890"/>
            <a:ext cx="4506809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Phone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983059" y="3310890"/>
            <a:ext cx="6732691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Exactly 10 digits (starts 6/7/8/9)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76250" y="3778377"/>
            <a:ext cx="4506809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Highest Qualification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983059" y="3778377"/>
            <a:ext cx="6732691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Must be from allowed list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76250" y="4245864"/>
            <a:ext cx="4506809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Interview Status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983059" y="4245864"/>
            <a:ext cx="6732691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Cleared / Waitlisted (Rejected blocks)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76250" y="4713351"/>
            <a:ext cx="4506809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Aadhaar Number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983059" y="4713351"/>
            <a:ext cx="6732691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Exactly 12 digits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76250" y="5180838"/>
            <a:ext cx="4506809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Offer Letter Sent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983059" y="5180838"/>
            <a:ext cx="6732691" cy="4674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Only if interview status is Cleared/Waitlisted</a:t>
            </a: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0" y="6124575"/>
            <a:ext cx="12192000" cy="733425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24" name="Text 20"/>
          <p:cNvSpPr/>
          <p:nvPr/>
        </p:nvSpPr>
        <p:spPr>
          <a:xfrm>
            <a:off x="2319338" y="6367582"/>
            <a:ext cx="7553325" cy="2446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927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UI Feedback: Red 'STRICT' badge, inline red error messages, red/green field borders.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Soft Validation Rules &amp; Exception System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Configurable thresholds with documented rationale for overrides.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064067"/>
            <a:ext cx="3270171" cy="401609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Font typeface="+mj-lt"/>
              <a:buAutoNum type="arabicPeriod" startAt="1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Validation Rules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Rules with configurable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thresholds that can be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overridden with documented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rationale.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Font typeface="+mj-lt"/>
              <a:buAutoNum type="arabicPeriod" startAt="2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Date of Birth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 between 18 and 35 years.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Font typeface="+mj-lt"/>
              <a:buAutoNum type="arabicPeriod" startAt="3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Graduation Year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Between 2015 and 2025.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Font typeface="+mj-lt"/>
              <a:buAutoNum type="arabicPeriod" startAt="4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Percentage / CGPA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Minimum of 60% or 6.0 CGPA.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08500" y="2064067"/>
            <a:ext cx="3270171" cy="316896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Font typeface="+mj-lt"/>
              <a:buAutoNum type="arabicPeriod" startAt="5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Screening Test Score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Minimum of 40 out of 100.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Font typeface="+mj-lt"/>
              <a:buAutoNum type="arabicPeriod" startAt="6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Exception Override Flow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Step-by-step process for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handling exceptions.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Font typeface="+mj-lt"/>
              <a:buAutoNum type="arabicPeriod" startAt="7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Soft Rule Failure &amp;</a:t>
            </a:r>
            <a:b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Warning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is notified when a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validation rule is not met.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64500" y="2064067"/>
            <a:ext cx="3270171" cy="36723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Font typeface="+mj-lt"/>
              <a:buAutoNum type="arabicPeriod" startAt="8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Operator Intervention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Operator explicitly enables the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exception and provides a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justification.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Font typeface="+mj-lt"/>
              <a:buAutoNum type="arabicPeriod" startAt="9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Rationale Entry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Justification must be at least 30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characters and include specific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keywords.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Font typeface="+mj-lt"/>
              <a:buAutoNum type="arabicPeriod" startAt="10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Submission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Process can be submitted once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valid rationale is provided.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Exception Flagging System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Automating Escalation for Closer Review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109788"/>
            <a:ext cx="3619500" cy="1909763"/>
          </a:xfrm>
          <a:prstGeom prst="rect">
            <a:avLst/>
          </a:prstGeom>
          <a:solidFill>
            <a:srgbClr val="FFD9AD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2606992"/>
            <a:ext cx="3238500" cy="2892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78"/>
              </a:lnSpc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Automatic Flagging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968943"/>
            <a:ext cx="3325640" cy="7925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62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Candidates with more than 2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exceptions are automatically flagged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for manager review.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976438" y="17526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C17A"/>
            </a:solidFill>
            <a:prstDash val="solid"/>
            <a:miter lim="800000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7114" y="1929798"/>
            <a:ext cx="304800" cy="3619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6250" y="2109788"/>
            <a:ext cx="3619500" cy="1909763"/>
          </a:xfrm>
          <a:prstGeom prst="rect">
            <a:avLst/>
          </a:prstGeom>
          <a:solidFill>
            <a:srgbClr val="FEC088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4572000" y="2606992"/>
            <a:ext cx="3238500" cy="2892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78"/>
              </a:lnSpc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Visual Indicator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0" y="2968943"/>
            <a:ext cx="3238500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62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pulsing red badge appears,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indicating potential escalation.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786438" y="17526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EA555"/>
            </a:solidFill>
            <a:prstDash val="solid"/>
            <a:miter lim="800000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083" y="1942356"/>
            <a:ext cx="295275" cy="3333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96250" y="2109788"/>
            <a:ext cx="3619500" cy="1909763"/>
          </a:xfrm>
          <a:prstGeom prst="rect">
            <a:avLst/>
          </a:prstGeom>
          <a:solidFill>
            <a:srgbClr val="FD864D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8382000" y="2606992"/>
            <a:ext cx="3238500" cy="2892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78"/>
              </a:lnSpc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Database Status Update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382000" y="2968943"/>
            <a:ext cx="3238500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62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candidate's record is updated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 'flagged_for_review: true'.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596438" y="17526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C641B"/>
            </a:solidFill>
            <a:prstDash val="solid"/>
            <a:miter lim="800000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36" y="1975842"/>
            <a:ext cx="304800" cy="27622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76250" y="4471988"/>
            <a:ext cx="5524500" cy="1909763"/>
          </a:xfrm>
          <a:prstGeom prst="rect">
            <a:avLst/>
          </a:prstGeom>
          <a:solidFill>
            <a:srgbClr val="FF8000"/>
          </a:solidFill>
          <a:ln>
            <a:miter lim="800000"/>
          </a:ln>
        </p:spPr>
      </p:sp>
      <p:sp>
        <p:nvSpPr>
          <p:cNvPr id="20" name="Text 15"/>
          <p:cNvSpPr/>
          <p:nvPr/>
        </p:nvSpPr>
        <p:spPr>
          <a:xfrm>
            <a:off x="762000" y="4969192"/>
            <a:ext cx="5143500" cy="2892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78"/>
              </a:lnSpc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Audit Trail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62000" y="5331143"/>
            <a:ext cx="5143500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62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Detailed logs of exceptions and their rationales are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maintained.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2928938" y="41148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C6600"/>
            </a:solidFill>
            <a:prstDash val="solid"/>
            <a:miter lim="800000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6135" y="4300370"/>
            <a:ext cx="361950" cy="3429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191250" y="4471988"/>
            <a:ext cx="5524500" cy="1909763"/>
          </a:xfrm>
          <a:prstGeom prst="rect">
            <a:avLst/>
          </a:prstGeom>
          <a:solidFill>
            <a:srgbClr val="FF797A"/>
          </a:solidFill>
          <a:ln>
            <a:miter lim="800000"/>
          </a:ln>
        </p:spPr>
      </p:sp>
      <p:sp>
        <p:nvSpPr>
          <p:cNvPr id="25" name="Text 19"/>
          <p:cNvSpPr/>
          <p:nvPr/>
        </p:nvSpPr>
        <p:spPr>
          <a:xfrm>
            <a:off x="6477000" y="4969192"/>
            <a:ext cx="5143500" cy="2892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78"/>
              </a:lnSpc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UI Feedback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477000" y="5331143"/>
            <a:ext cx="5379713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62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Clear visual cues indicate the number of exceptions (Green: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0, Yellow: 1, Red: 3+).</a:t>
            </a:r>
            <a:endParaRPr lang="en-US" dirty="0"/>
          </a:p>
        </p:txBody>
      </p:sp>
      <p:sp>
        <p:nvSpPr>
          <p:cNvPr id="27" name="Shape 21"/>
          <p:cNvSpPr/>
          <p:nvPr/>
        </p:nvSpPr>
        <p:spPr>
          <a:xfrm>
            <a:off x="8643938" y="41148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4647"/>
            </a:solidFill>
            <a:prstDash val="solid"/>
            <a:miter lim="800000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2991" y="4308738"/>
            <a:ext cx="28575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Frontend UI — Candidate Entry Form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clean and intuitive single-page application designed for efficiency and user experience.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502217"/>
            <a:ext cx="5048250" cy="31439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Three-Tab Layout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Seamless navigation between Candidate Entry, Audit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Log, and Dashboard.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Modern Aesthetics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Features a dark mode interface, glassmorphism effects,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animated gradients, and the modern Inter font.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Structured Sections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Comprehensive data capture across Personal Info,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Academics, Admission Process, and Identity.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2502217"/>
            <a:ext cx="5048250" cy="2007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Real-time Validation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Instant API-driven validation on every field blur for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immediate feedback.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Interactive Enhancements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Includes a score type toggle for dynamic input and a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Ctrl+Enter shortcut for quick submission.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Frontend UI — Audit Log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comprehensive and searchable history of all actions.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109788"/>
            <a:ext cx="3619500" cy="1543050"/>
          </a:xfrm>
          <a:prstGeom prst="rect">
            <a:avLst/>
          </a:prstGeom>
          <a:solidFill>
            <a:srgbClr val="FFD9AD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2614613"/>
            <a:ext cx="3238500" cy="2458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36"/>
              </a:lnSpc>
            </a:pPr>
            <a:r>
              <a:rPr lang="en-US" sz="1658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Live Table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922270"/>
            <a:ext cx="3375773" cy="4491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68"/>
              </a:lnSpc>
              <a:spcBef>
                <a:spcPts val="478"/>
              </a:spcBef>
            </a:pP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All submissions loaded dynamically for real-</a:t>
            </a:r>
            <a:b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time tracking.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976438" y="17526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C17A"/>
            </a:solidFill>
            <a:prstDash val="solid"/>
            <a:miter lim="800000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238" y="1954914"/>
            <a:ext cx="247650" cy="30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6250" y="2109788"/>
            <a:ext cx="3619500" cy="1543050"/>
          </a:xfrm>
          <a:prstGeom prst="rect">
            <a:avLst/>
          </a:prstGeom>
          <a:solidFill>
            <a:srgbClr val="FEC088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4572000" y="2614613"/>
            <a:ext cx="3238500" cy="2458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36"/>
              </a:lnSpc>
            </a:pPr>
            <a:r>
              <a:rPr lang="en-US" sz="1658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Filtering &amp; Search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0" y="2922270"/>
            <a:ext cx="3376257" cy="4491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68"/>
              </a:lnSpc>
              <a:spcBef>
                <a:spcPts val="478"/>
              </a:spcBef>
            </a:pP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Easily filter by exceptions/flagged items and</a:t>
            </a:r>
            <a:b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search by name or email.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786438" y="17526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EA555"/>
            </a:solidFill>
            <a:prstDash val="solid"/>
            <a:miter lim="800000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687" y="1975841"/>
            <a:ext cx="285750" cy="2857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96250" y="2109788"/>
            <a:ext cx="3619500" cy="1543050"/>
          </a:xfrm>
          <a:prstGeom prst="rect">
            <a:avLst/>
          </a:prstGeom>
          <a:solidFill>
            <a:srgbClr val="FD864D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8382000" y="2614613"/>
            <a:ext cx="3238500" cy="2458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36"/>
              </a:lnSpc>
            </a:pPr>
            <a:r>
              <a:rPr lang="en-US" sz="1658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Status Badges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382000" y="2922270"/>
            <a:ext cx="3351485" cy="4491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68"/>
              </a:lnSpc>
              <a:spcBef>
                <a:spcPts val="478"/>
              </a:spcBef>
            </a:pP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Clear visual indicators for submission, edits,</a:t>
            </a:r>
            <a:b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deletions, exceptions, and review flags.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596438" y="175260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C641B"/>
            </a:solidFill>
            <a:prstDash val="solid"/>
            <a:miter lim="800000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114" y="1929798"/>
            <a:ext cx="304800" cy="3619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76250" y="4105275"/>
            <a:ext cx="5524500" cy="1543050"/>
          </a:xfrm>
          <a:prstGeom prst="rect">
            <a:avLst/>
          </a:prstGeom>
          <a:solidFill>
            <a:srgbClr val="FF8000"/>
          </a:solidFill>
          <a:ln>
            <a:miter lim="800000"/>
          </a:ln>
        </p:spPr>
      </p:sp>
      <p:sp>
        <p:nvSpPr>
          <p:cNvPr id="20" name="Text 15"/>
          <p:cNvSpPr/>
          <p:nvPr/>
        </p:nvSpPr>
        <p:spPr>
          <a:xfrm>
            <a:off x="762000" y="4610100"/>
            <a:ext cx="5143500" cy="2458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36"/>
              </a:lnSpc>
            </a:pPr>
            <a:r>
              <a:rPr lang="en-US" sz="1658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Inline Details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62000" y="4917758"/>
            <a:ext cx="5143500" cy="4491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68"/>
              </a:lnSpc>
              <a:spcBef>
                <a:spcPts val="478"/>
              </a:spcBef>
            </a:pP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Exception rationales displayed directly within the log for immediate</a:t>
            </a:r>
            <a:b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context.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2928938" y="374808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C6600"/>
            </a:solidFill>
            <a:prstDash val="solid"/>
            <a:miter lim="800000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758" y="3921099"/>
            <a:ext cx="381000" cy="37147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191250" y="4105275"/>
            <a:ext cx="5524500" cy="1543050"/>
          </a:xfrm>
          <a:prstGeom prst="rect">
            <a:avLst/>
          </a:prstGeom>
          <a:solidFill>
            <a:srgbClr val="FF797A"/>
          </a:solidFill>
          <a:ln>
            <a:miter lim="800000"/>
          </a:ln>
        </p:spPr>
      </p:sp>
      <p:sp>
        <p:nvSpPr>
          <p:cNvPr id="25" name="Text 19"/>
          <p:cNvSpPr/>
          <p:nvPr/>
        </p:nvSpPr>
        <p:spPr>
          <a:xfrm>
            <a:off x="6477000" y="4610100"/>
            <a:ext cx="5143500" cy="2458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36"/>
              </a:lnSpc>
            </a:pPr>
            <a:r>
              <a:rPr lang="en-US" sz="1658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Export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477000" y="4917758"/>
            <a:ext cx="5143500" cy="4491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68"/>
              </a:lnSpc>
              <a:spcBef>
                <a:spcPts val="478"/>
              </a:spcBef>
            </a:pP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One-click CSV and JSON download options for data analysis and</a:t>
            </a:r>
            <a:b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archiving.</a:t>
            </a:r>
            <a:endParaRPr lang="en-US" dirty="0"/>
          </a:p>
        </p:txBody>
      </p:sp>
      <p:sp>
        <p:nvSpPr>
          <p:cNvPr id="27" name="Shape 21"/>
          <p:cNvSpPr/>
          <p:nvPr/>
        </p:nvSpPr>
        <p:spPr>
          <a:xfrm>
            <a:off x="8643938" y="374808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4647"/>
            </a:solidFill>
            <a:prstDash val="solid"/>
            <a:miter lim="800000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2055" y="3954585"/>
            <a:ext cx="323850" cy="3048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0" y="6124575"/>
            <a:ext cx="12192000" cy="733425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30" name="Text 23"/>
          <p:cNvSpPr/>
          <p:nvPr/>
        </p:nvSpPr>
        <p:spPr>
          <a:xfrm>
            <a:off x="3589612" y="6367582"/>
            <a:ext cx="5012775" cy="2446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927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 comprehensive and searchable history of all actions.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Admin Panel (KartaDharta) 🔐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Secure management interface for KartaDharta, offering robust control and oversight.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502217"/>
            <a:ext cx="5136237" cy="31439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Access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Access the admin panel at `localhost:5000/prabandhak`.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Default credentials: admin/admin123.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Secure Login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Features a glassmorphism design with integrated error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handling for a protected entry point.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Overview Dashboard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Displays key statistics through cards, mirroring the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public-facing dashboard for quick insights.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2502217"/>
            <a:ext cx="5141829" cy="31439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Candidate Management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Includes a searchable and sortable table with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comprehensive Edit and Delete functionalities.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Audit Integration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All administrative actions are securely logged with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specific identifiers: `ADMIN_EDIT` and `ADMIN_DELETE`.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Route Protection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All admin endpoints are secured through robust session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authentication.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5971" y="379095"/>
            <a:ext cx="4376808" cy="11125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API Endpoints:</a:t>
            </a:r>
            <a:b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Complete Reference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05375" y="1600200"/>
            <a:ext cx="6858000" cy="5812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comprehensive set of RESTful API endpoints for integration and</a:t>
            </a:r>
            <a:b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management.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47675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stylized representation of API endpoints with code snippets and arrows indicating connections.">    </p:cNvPr>
          <p:cNvPicPr>
            <a:picLocks noChangeAspect="1"/>
          </p:cNvPicPr>
          <p:nvPr/>
        </p:nvPicPr>
        <p:blipFill>
          <a:blip r:embed="rId1"/>
          <a:srcRect l="6871" r="6871" t="3767" b="3767"/>
          <a:stretch/>
        </p:blipFill>
        <p:spPr>
          <a:xfrm>
            <a:off x="0" y="0"/>
            <a:ext cx="4476750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48250" y="2992755"/>
            <a:ext cx="6754176" cy="22718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Public Endpoints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Includes 12 endpoints such as /api/validate, /api/candidates, /api/audit-log,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and /api/export/{csv|json}.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Admin Endpoints (Protected)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Features 6 protected endpoints for administrative tasks, including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/api/admin/login, /api/admin/logout, /api/admin/candidates, and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/api/admin/candidates/.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476750" y="6124575"/>
            <a:ext cx="7715250" cy="733425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8" name="Text 5"/>
          <p:cNvSpPr/>
          <p:nvPr/>
        </p:nvSpPr>
        <p:spPr>
          <a:xfrm>
            <a:off x="7474150" y="6367582"/>
            <a:ext cx="1720450" cy="2446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927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Total Endpoints: 18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Database Design: SQLite Schema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762250" y="2480072"/>
            <a:ext cx="1428750" cy="1428750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6878" y="2926555"/>
            <a:ext cx="609600" cy="5429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1150" y="4005143"/>
            <a:ext cx="3790950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Candidates Table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447265" y="4349353"/>
            <a:ext cx="4058720" cy="10567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Stores comprehensive candidate information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including personal, academic, and flexible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exception data. Features review flags for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status management.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8001000" y="2480072"/>
            <a:ext cx="1428750" cy="1428750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395" y="2851213"/>
            <a:ext cx="723900" cy="6762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96088" y="4005143"/>
            <a:ext cx="3838575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Audit Log Table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660059" y="4349353"/>
            <a:ext cx="4110632" cy="10567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Logs all significant actions (SUBMISSION,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ADMIN_EDIT, ADMIN_DELETE) performed on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candidate data, recording details, exception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counts, and timestamps.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Project Structure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Organized Codebase for Maintainability</a:t>
            </a: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661523"/>
            <a:ext cx="3876675" cy="1190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9125" y="3172182"/>
            <a:ext cx="3301960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Source Code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3982998"/>
            <a:ext cx="3527503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Separated into `src/backend` (Flask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API) and `src/frontend` (Web Interface).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174793" y="2423398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712" y="2572226"/>
            <a:ext cx="238125" cy="18097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09" y="2661523"/>
            <a:ext cx="3876675" cy="1190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87875" y="3172182"/>
            <a:ext cx="3016210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Prompts Directory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4445000" y="3982998"/>
            <a:ext cx="3301960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Contains R.I.C.E. prompt files for AI-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assisted development.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5857756" y="2423398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192" y="2549902"/>
            <a:ext cx="200025" cy="22860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168" y="2661523"/>
            <a:ext cx="3876675" cy="11906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70875" y="3172182"/>
            <a:ext cx="3016210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Documentation &amp; Logs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8128000" y="3982998"/>
            <a:ext cx="3439990" cy="7925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Includes `README.md` for project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documentation and `sprint-log.md` for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build progress.</a:t>
            </a:r>
            <a:endParaRPr lang="en-US" dirty="0"/>
          </a:p>
        </p:txBody>
      </p:sp>
      <p:sp>
        <p:nvSpPr>
          <p:cNvPr id="17" name="Shape 10"/>
          <p:cNvSpPr/>
          <p:nvPr/>
        </p:nvSpPr>
        <p:spPr>
          <a:xfrm>
            <a:off x="9540715" y="2423398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0702" y="2558274"/>
            <a:ext cx="161925" cy="2095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0" y="6124575"/>
            <a:ext cx="12192000" cy="733425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20" name="Text 12"/>
          <p:cNvSpPr/>
          <p:nvPr/>
        </p:nvSpPr>
        <p:spPr>
          <a:xfrm>
            <a:off x="1981200" y="6367582"/>
            <a:ext cx="8229600" cy="2446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927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principles include clear backend/frontend separation and a dedicated prompts directory.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Sprint Timeline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Rapid development cycle completed in a single day.</a:t>
            </a: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812" y="3819525"/>
            <a:ext cx="12239625" cy="571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27" y="2667476"/>
            <a:ext cx="28575" cy="119062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6" y="3752851"/>
            <a:ext cx="180975" cy="18097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202" y="3829050"/>
            <a:ext cx="28575" cy="82867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3000" y="3752851"/>
            <a:ext cx="180975" cy="180975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2069" y="2667476"/>
            <a:ext cx="28575" cy="1190625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5867" y="3752851"/>
            <a:ext cx="180975" cy="180975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940" y="3829050"/>
            <a:ext cx="28575" cy="828675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8742" y="3752851"/>
            <a:ext cx="180975" cy="180975"/>
          </a:xfrm>
          <a:prstGeom prst="rect">
            <a:avLst/>
          </a:prstGeom>
        </p:spPr>
      </p:pic>
      <p:pic>
        <p:nvPicPr>
          <p:cNvPr id="1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7715" y="2667476"/>
            <a:ext cx="28575" cy="1190625"/>
          </a:xfrm>
          <a:prstGeom prst="rect">
            <a:avLst/>
          </a:prstGeom>
        </p:spPr>
      </p:pic>
      <p:pic>
        <p:nvPicPr>
          <p:cNvPr id="1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1513" y="3752851"/>
            <a:ext cx="180975" cy="180975"/>
          </a:xfrm>
          <a:prstGeom prst="rect">
            <a:avLst/>
          </a:prstGeom>
        </p:spPr>
      </p:pic>
      <p:pic>
        <p:nvPicPr>
          <p:cNvPr id="1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0585" y="3829050"/>
            <a:ext cx="28575" cy="828675"/>
          </a:xfrm>
          <a:prstGeom prst="rect">
            <a:avLst/>
          </a:prstGeom>
        </p:spPr>
      </p:pic>
      <p:pic>
        <p:nvPicPr>
          <p:cNvPr id="1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84384" y="3752851"/>
            <a:ext cx="180975" cy="180975"/>
          </a:xfrm>
          <a:prstGeom prst="rect">
            <a:avLst/>
          </a:prstGeom>
        </p:spPr>
      </p:pic>
      <p:sp>
        <p:nvSpPr>
          <p:cNvPr id="17" name="Shape 2"/>
          <p:cNvSpPr/>
          <p:nvPr/>
        </p:nvSpPr>
        <p:spPr>
          <a:xfrm>
            <a:off x="1043937" y="2548309"/>
            <a:ext cx="133350" cy="13335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18" name="Text 3"/>
          <p:cNvSpPr/>
          <p:nvPr/>
        </p:nvSpPr>
        <p:spPr>
          <a:xfrm>
            <a:off x="1272540" y="2485096"/>
            <a:ext cx="2817971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Sprint 1</a:t>
            </a:r>
            <a:endParaRPr lang="en-US" dirty="0"/>
          </a:p>
        </p:txBody>
      </p:sp>
      <p:sp>
        <p:nvSpPr>
          <p:cNvPr id="19" name="Text 4"/>
          <p:cNvSpPr/>
          <p:nvPr/>
        </p:nvSpPr>
        <p:spPr>
          <a:xfrm>
            <a:off x="1272540" y="2829306"/>
            <a:ext cx="2818902" cy="264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Core Backend, Strict Validators</a:t>
            </a:r>
            <a:endParaRPr lang="en-US" dirty="0"/>
          </a:p>
        </p:txBody>
      </p:sp>
      <p:sp>
        <p:nvSpPr>
          <p:cNvPr id="20" name="Shape 5"/>
          <p:cNvSpPr/>
          <p:nvPr/>
        </p:nvSpPr>
        <p:spPr>
          <a:xfrm>
            <a:off x="2676762" y="4639046"/>
            <a:ext cx="133350" cy="13335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21" name="Text 6"/>
          <p:cNvSpPr/>
          <p:nvPr/>
        </p:nvSpPr>
        <p:spPr>
          <a:xfrm>
            <a:off x="2905397" y="4575834"/>
            <a:ext cx="2817971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Sprint 2</a:t>
            </a:r>
            <a:endParaRPr lang="en-US" dirty="0"/>
          </a:p>
        </p:txBody>
      </p:sp>
      <p:sp>
        <p:nvSpPr>
          <p:cNvPr id="22" name="Text 7"/>
          <p:cNvSpPr/>
          <p:nvPr/>
        </p:nvSpPr>
        <p:spPr>
          <a:xfrm>
            <a:off x="2905397" y="4920044"/>
            <a:ext cx="2817971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Soft Rules, Exception System,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Audit Log</a:t>
            </a:r>
            <a:endParaRPr lang="en-US" dirty="0"/>
          </a:p>
        </p:txBody>
      </p:sp>
      <p:sp>
        <p:nvSpPr>
          <p:cNvPr id="23" name="Shape 8"/>
          <p:cNvSpPr/>
          <p:nvPr/>
        </p:nvSpPr>
        <p:spPr>
          <a:xfrm>
            <a:off x="4309583" y="2548309"/>
            <a:ext cx="133350" cy="13335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24" name="Text 9"/>
          <p:cNvSpPr/>
          <p:nvPr/>
        </p:nvSpPr>
        <p:spPr>
          <a:xfrm>
            <a:off x="4538254" y="2485096"/>
            <a:ext cx="2817971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Sprint 3</a:t>
            </a:r>
            <a:endParaRPr lang="en-US" dirty="0"/>
          </a:p>
        </p:txBody>
      </p:sp>
      <p:sp>
        <p:nvSpPr>
          <p:cNvPr id="25" name="Text 10"/>
          <p:cNvSpPr/>
          <p:nvPr/>
        </p:nvSpPr>
        <p:spPr>
          <a:xfrm>
            <a:off x="4538254" y="2829306"/>
            <a:ext cx="2817971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Frontend UI, Glassmorphism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Design</a:t>
            </a:r>
            <a:endParaRPr lang="en-US" dirty="0"/>
          </a:p>
        </p:txBody>
      </p:sp>
      <p:sp>
        <p:nvSpPr>
          <p:cNvPr id="26" name="Shape 11"/>
          <p:cNvSpPr/>
          <p:nvPr/>
        </p:nvSpPr>
        <p:spPr>
          <a:xfrm>
            <a:off x="5942408" y="4639046"/>
            <a:ext cx="133350" cy="13335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27" name="Text 12"/>
          <p:cNvSpPr/>
          <p:nvPr/>
        </p:nvSpPr>
        <p:spPr>
          <a:xfrm>
            <a:off x="6171111" y="4575834"/>
            <a:ext cx="2817971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Sprint 3+</a:t>
            </a:r>
            <a:endParaRPr lang="en-US" dirty="0"/>
          </a:p>
        </p:txBody>
      </p:sp>
      <p:sp>
        <p:nvSpPr>
          <p:cNvPr id="28" name="Text 13"/>
          <p:cNvSpPr/>
          <p:nvPr/>
        </p:nvSpPr>
        <p:spPr>
          <a:xfrm>
            <a:off x="6171111" y="4920044"/>
            <a:ext cx="2817971" cy="264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Database Persistence (SQLite)</a:t>
            </a:r>
            <a:endParaRPr lang="en-US" dirty="0"/>
          </a:p>
        </p:txBody>
      </p:sp>
      <p:sp>
        <p:nvSpPr>
          <p:cNvPr id="29" name="Shape 14"/>
          <p:cNvSpPr/>
          <p:nvPr/>
        </p:nvSpPr>
        <p:spPr>
          <a:xfrm>
            <a:off x="7575352" y="2548309"/>
            <a:ext cx="133350" cy="13335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30" name="Text 15"/>
          <p:cNvSpPr/>
          <p:nvPr/>
        </p:nvSpPr>
        <p:spPr>
          <a:xfrm>
            <a:off x="7803969" y="2485096"/>
            <a:ext cx="3883105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Sprint 4</a:t>
            </a:r>
            <a:endParaRPr lang="en-US" dirty="0"/>
          </a:p>
        </p:txBody>
      </p:sp>
      <p:sp>
        <p:nvSpPr>
          <p:cNvPr id="31" name="Text 16"/>
          <p:cNvSpPr/>
          <p:nvPr/>
        </p:nvSpPr>
        <p:spPr>
          <a:xfrm>
            <a:off x="7803969" y="2829306"/>
            <a:ext cx="3883105" cy="264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Polish, Export, Search, Shortcuts</a:t>
            </a:r>
            <a:endParaRPr lang="en-US" dirty="0"/>
          </a:p>
        </p:txBody>
      </p:sp>
      <p:sp>
        <p:nvSpPr>
          <p:cNvPr id="32" name="Shape 17"/>
          <p:cNvSpPr/>
          <p:nvPr/>
        </p:nvSpPr>
        <p:spPr>
          <a:xfrm>
            <a:off x="9208173" y="4639046"/>
            <a:ext cx="133350" cy="13335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33" name="Text 18"/>
          <p:cNvSpPr/>
          <p:nvPr/>
        </p:nvSpPr>
        <p:spPr>
          <a:xfrm>
            <a:off x="9436826" y="4575834"/>
            <a:ext cx="2250281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Sprint 5</a:t>
            </a:r>
            <a:endParaRPr lang="en-US" dirty="0"/>
          </a:p>
        </p:txBody>
      </p:sp>
      <p:sp>
        <p:nvSpPr>
          <p:cNvPr id="34" name="Text 19"/>
          <p:cNvSpPr/>
          <p:nvPr/>
        </p:nvSpPr>
        <p:spPr>
          <a:xfrm>
            <a:off x="9436826" y="4920044"/>
            <a:ext cx="2323980" cy="264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Admin Panel, Auth, CRUD</a:t>
            </a:r>
            <a:endParaRPr lang="en-US" dirty="0"/>
          </a:p>
        </p:txBody>
      </p:sp>
      <p:sp>
        <p:nvSpPr>
          <p:cNvPr id="35" name="Shape 20"/>
          <p:cNvSpPr/>
          <p:nvPr/>
        </p:nvSpPr>
        <p:spPr>
          <a:xfrm>
            <a:off x="0" y="6124575"/>
            <a:ext cx="12192000" cy="733425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36" name="Text 21"/>
          <p:cNvSpPr/>
          <p:nvPr/>
        </p:nvSpPr>
        <p:spPr>
          <a:xfrm>
            <a:off x="4361973" y="6367582"/>
            <a:ext cx="3468054" cy="2446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927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All 6 sprints completed in a single day.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Development Methodology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Leveraging AI with the R.I.C.E. Framework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764155"/>
            <a:ext cx="5048250" cy="26155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R.I.C.E. Framework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structured approach for AI persona and development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Role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Definition of the AI persona.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Intent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Defining the build objective for the AI.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2764155"/>
            <a:ext cx="5048250" cy="26155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Constraints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Specifying technical requirements and limitations.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Expected Outcome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Establishing verification criteria for success.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Prompt Log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13 documented R.I.C.E. prompts used to guide feature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development.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Design Decisions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Strategic choices for efficiency and robustness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235517"/>
            <a:ext cx="3270171" cy="36723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Zero Client-Side Validation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Ensures a single source of truth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enforced on the backend.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Rules as Python Flags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Enables straightforward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adjustment of thresholds and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parameters.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SQLite Database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Offers zero-configuration setup,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perfect for single-server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deployments.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08500" y="2235517"/>
            <a:ext cx="3270171" cy="31439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Flask Sessions for Auth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Implements simple and secure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server-side authentication.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Vanilla JS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Achieves a minimal bundle size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without the need for a build step.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Blueprint Architecture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Facilitates a clean separation of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concerns within the application.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64500" y="2235517"/>
            <a:ext cx="3270171" cy="22968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WAL Mode SQLite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Enhances efficient concurrent read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and write operations.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Char char="•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Hardcoded Admin</a:t>
            </a:r>
            <a:b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Credentials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Simplifies development, with easy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configuration options available.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How to Run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Simple setup for immediate use.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2568892"/>
            <a:ext cx="5048250" cy="22718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Font typeface="+mj-lt"/>
              <a:buAutoNum type="arabicPeriod" startAt="1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Clone the repository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 `git clone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https://github.com/bottyash/admitguard-yash-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parmar.git` to get the code.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Font typeface="+mj-lt"/>
              <a:buAutoNum type="arabicPeriod" startAt="2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Install dependencies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Run `pip install flask flask-cors` to install required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packages.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2568892"/>
            <a:ext cx="5048250" cy="2007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278"/>
              </a:lnSpc>
              <a:buSzPct val="100000"/>
              <a:buFont typeface="+mj-lt"/>
              <a:buAutoNum type="arabicPeriod" startAt="3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Start the server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Navigate to `src/backend` and run `python app.py`.</a:t>
            </a:r>
            <a:endParaRPr lang="en-US" dirty="0"/>
          </a:p>
          <a:p>
            <a:pPr algn="l" marL="241300" indent="-241300">
              <a:lnSpc>
                <a:spcPts val="2278"/>
              </a:lnSpc>
              <a:spcBef>
                <a:spcPts val="2045"/>
              </a:spcBef>
              <a:buSzPct val="100000"/>
              <a:buFont typeface="+mj-lt"/>
              <a:buAutoNum type="arabicPeriod" startAt="4"/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Access the application</a:t>
            </a:r>
            <a:endParaRPr lang="en-US" dirty="0"/>
          </a:p>
          <a:p>
            <a:pPr algn="l" lvl="1" marL="241300" indent="0">
              <a:lnSpc>
                <a:spcPts val="2080"/>
              </a:lnSpc>
              <a:spcBef>
                <a:spcPts val="415"/>
              </a:spcBef>
              <a:buNone/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Main App: `http://localhost:5000` Admin Panel: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`http://localhost:5000/prabandhak` (Credentials: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`admin/admin123`)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6124575"/>
            <a:ext cx="12192000" cy="733425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7" name="Text 5"/>
          <p:cNvSpPr/>
          <p:nvPr/>
        </p:nvSpPr>
        <p:spPr>
          <a:xfrm>
            <a:off x="3971985" y="6367582"/>
            <a:ext cx="4248030" cy="2446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927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 build step or Docker required – just Python.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Demo Flow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guided walkthrough of AdmitGuard's capabilities</a:t>
            </a: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870359"/>
            <a:ext cx="2952750" cy="1200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9125" y="3381018"/>
            <a:ext cx="2381250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Candidate Entry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4191833"/>
            <a:ext cx="2381250" cy="10567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Demonstrate form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submission (valid/invalid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data), strict/soft rules, and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exception handling.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714500" y="2632234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41" y="2762748"/>
            <a:ext cx="257175" cy="1905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870359"/>
            <a:ext cx="2952750" cy="12001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67125" y="3381018"/>
            <a:ext cx="2095500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Frontend UI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524250" y="4191833"/>
            <a:ext cx="2381250" cy="10567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Showcase the Audit Log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(live updates, filtering,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export) and Dashboard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(stats, rules reference).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4476750" y="2632234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835" y="2764318"/>
            <a:ext cx="219075" cy="219075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0" y="2870359"/>
            <a:ext cx="2952750" cy="12001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29375" y="3381018"/>
            <a:ext cx="2095500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Admin Panel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6286500" y="4191833"/>
            <a:ext cx="2381250" cy="10567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 in, perform CRUD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operations on candidates,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and observe audit trail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updates.</a:t>
            </a:r>
            <a:endParaRPr lang="en-US" dirty="0"/>
          </a:p>
        </p:txBody>
      </p:sp>
      <p:sp>
        <p:nvSpPr>
          <p:cNvPr id="17" name="Shape 10"/>
          <p:cNvSpPr/>
          <p:nvPr/>
        </p:nvSpPr>
        <p:spPr>
          <a:xfrm>
            <a:off x="7239000" y="2632234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4342" y="2764318"/>
            <a:ext cx="247650" cy="219075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2870359"/>
            <a:ext cx="2952750" cy="12001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191625" y="3381018"/>
            <a:ext cx="2095500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Theme Switch</a:t>
            </a: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9048750" y="4191833"/>
            <a:ext cx="2430780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Demonstrate the dark/light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 toggle.</a:t>
            </a:r>
            <a:endParaRPr lang="en-US" dirty="0"/>
          </a:p>
        </p:txBody>
      </p:sp>
      <p:sp>
        <p:nvSpPr>
          <p:cNvPr id="22" name="Shape 13"/>
          <p:cNvSpPr/>
          <p:nvPr/>
        </p:nvSpPr>
        <p:spPr>
          <a:xfrm>
            <a:off x="10001250" y="2632234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0577" y="2764317"/>
            <a:ext cx="21907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9095"/>
            <a:ext cx="11334750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8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AdmitGuard Impact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43940"/>
            <a:ext cx="11334750" cy="29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89"/>
              </a:lnSpc>
              <a:spcBef>
                <a:spcPts val="838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Comprehensive and Efficient Admission System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095375" y="2081213"/>
            <a:ext cx="714375" cy="714375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689" y="2304454"/>
            <a:ext cx="304800" cy="2762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00250" y="2034659"/>
            <a:ext cx="3952875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Validated Data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000250" y="2378869"/>
            <a:ext cx="3952875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Ensures data integrity with 11 fields and 11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validation rules (7 strict, 4 soft).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095375" y="3319463"/>
            <a:ext cx="714375" cy="714375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17" y="3513404"/>
            <a:ext cx="333375" cy="3333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00250" y="3272909"/>
            <a:ext cx="3952875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Compliance Features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000250" y="3617119"/>
            <a:ext cx="4237792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Supports regulatory adherence with structured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exceptions, audit trails, and manager flagging.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1095375" y="4557713"/>
            <a:ext cx="714375" cy="714375"/>
          </a:xfrm>
          <a:prstGeom prst="ellipse">
            <a:avLst/>
          </a:prstGeom>
          <a:solidFill>
            <a:srgbClr val="FD864D"/>
          </a:solidFill>
          <a:ln>
            <a:miter lim="800000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247" y="4768394"/>
            <a:ext cx="295275" cy="2952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00250" y="4511159"/>
            <a:ext cx="3952875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Usability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2000250" y="4855369"/>
            <a:ext cx="4073604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Provides a responsive, intuitive interface with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export capabilities.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6334125" y="2081213"/>
            <a:ext cx="714375" cy="714375"/>
          </a:xfrm>
          <a:prstGeom prst="ellipse">
            <a:avLst/>
          </a:prstGeom>
          <a:solidFill>
            <a:srgbClr val="FF8000"/>
          </a:solidFill>
          <a:ln>
            <a:miter lim="800000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740" y="2266782"/>
            <a:ext cx="257175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39000" y="2034659"/>
            <a:ext cx="3952875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Secure Admin Panel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7239000" y="2378869"/>
            <a:ext cx="4198500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Protected by session authentication for secure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access.</a:t>
            </a: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6334125" y="3319463"/>
            <a:ext cx="714375" cy="714375"/>
          </a:xfrm>
          <a:prstGeom prst="ellipse">
            <a:avLst/>
          </a:prstGeom>
          <a:solidFill>
            <a:srgbClr val="FF797A"/>
          </a:solidFill>
          <a:ln>
            <a:miter lim="800000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323" y="3572002"/>
            <a:ext cx="361950" cy="2095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39000" y="3272909"/>
            <a:ext cx="3952875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Lightweight Architecture</a:t>
            </a: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7239000" y="3617119"/>
            <a:ext cx="3952875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Efficiently built with minimal dependencies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(Flask, SQLite) and ~3,000 lines of code.</a:t>
            </a: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6334125" y="4557713"/>
            <a:ext cx="714375" cy="714375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0623" y="4768400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39000" y="4511159"/>
            <a:ext cx="3952875" cy="266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Rapid Development</a:t>
            </a: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7239000" y="4855369"/>
            <a:ext cx="3952875" cy="528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80"/>
              </a:lnSpc>
              <a:spcBef>
                <a:spcPts val="596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Developed in 6 sprints within a single day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using 13 R.I.C.E. prompts.</a:t>
            </a:r>
            <a:endParaRPr lang="en-US" dirty="0"/>
          </a:p>
        </p:txBody>
      </p:sp>
      <p:sp>
        <p:nvSpPr>
          <p:cNvPr id="28" name="Shape 20"/>
          <p:cNvSpPr/>
          <p:nvPr/>
        </p:nvSpPr>
        <p:spPr>
          <a:xfrm>
            <a:off x="0" y="6124575"/>
            <a:ext cx="12192000" cy="733425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29" name="Text 21"/>
          <p:cNvSpPr/>
          <p:nvPr/>
        </p:nvSpPr>
        <p:spPr>
          <a:xfrm>
            <a:off x="1042988" y="6367582"/>
            <a:ext cx="10106025" cy="2446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927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AdmitGuard delivers a robust and user-friendly admission system, rapidly developed for efficiency and compliance.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742361"/>
            <a:ext cx="10239375" cy="2224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52"/>
              </a:lnSpc>
            </a:pPr>
            <a:r>
              <a:rPr lang="en-US" sz="1500" spc="-90" kern="0" dirty="0">
                <a:solidFill>
                  <a:srgbClr val="22AAE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Future Development Avenues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203966"/>
            <a:ext cx="10620375" cy="5562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4380"/>
              </a:lnSpc>
              <a:spcBef>
                <a:spcPts val="1846"/>
              </a:spcBef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Future Scopes: Expanding AdmitGuard's Capabilities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2929771"/>
            <a:ext cx="10239375" cy="21894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marL="241300" indent="-241300">
              <a:lnSpc>
                <a:spcPts val="1927"/>
              </a:lnSpc>
              <a:spcBef>
                <a:spcPts val="1309"/>
              </a:spcBef>
              <a:buSzPct val="100000"/>
              <a:buChar char="•"/>
            </a:pPr>
            <a:r>
              <a:rPr lang="en-US" sz="1650" spc="-99" kern="0" dirty="0">
                <a:solidFill>
                  <a:srgbClr val="FFFFFF"/>
                </a:solidFill>
                <a:latin typeface="Inter Extra Bold" pitchFamily="34" charset="0"/>
                <a:ea typeface="Inter Extra Bold" pitchFamily="34" charset="-122"/>
                <a:cs typeface="Inter Extra Bold" pitchFamily="34" charset="-120"/>
              </a:rPr>
              <a:t>Third-Party Tool &amp; LLM Integrations</a:t>
            </a:r>
            <a:pPr algn="l">
              <a:lnSpc>
                <a:spcPts val="1927"/>
              </a:lnSpc>
            </a:pPr>
            <a:b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Leverage existing open API endpoints for seamless external system connections.</a:t>
            </a:r>
            <a:b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Enable sophisticated data analysis and insights through advanced Large Language Models.</a:t>
            </a:r>
            <a:b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Facilitate automated communication workflows or intelligent candidate screening.</a:t>
            </a:r>
            <a:endParaRPr lang="en-US" dirty="0"/>
          </a:p>
          <a:p>
            <a:pPr algn="l" marL="241300" indent="-241300">
              <a:lnSpc>
                <a:spcPts val="1927"/>
              </a:lnSpc>
              <a:spcBef>
                <a:spcPts val="1791"/>
              </a:spcBef>
              <a:buSzPct val="100000"/>
              <a:buChar char="•"/>
            </a:pPr>
            <a:r>
              <a:rPr lang="en-US" sz="1650" spc="-99" kern="0" dirty="0">
                <a:solidFill>
                  <a:srgbClr val="FFFFFF"/>
                </a:solidFill>
                <a:latin typeface="Inter Extra Bold" pitchFamily="34" charset="0"/>
                <a:ea typeface="Inter Extra Bold" pitchFamily="34" charset="-122"/>
                <a:cs typeface="Inter Extra Bold" pitchFamily="34" charset="-120"/>
              </a:rPr>
              <a:t>Google Sheets Automation</a:t>
            </a:r>
            <a:pPr algn="l">
              <a:lnSpc>
                <a:spcPts val="1927"/>
              </a:lnSpc>
            </a:pPr>
            <a:b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Offer Google Sheets as a modern, cloud-based alternative to traditional Excel for data management.</a:t>
            </a:r>
            <a:b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Enable real-time synchronization and collaborative editing.</a:t>
            </a:r>
            <a:b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Streamline data import/export processes, enhancing accessibility and integration with other cloud services.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39ce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AdmitGuard Revolutionizing Admission Data Management</dc:title>
  <dc:subject>AdmitGuard Revolutionizing Admission Data Management</dc:subject>
  <dc:creator>YASH PARMAR</dc:creator>
  <cp:lastModifiedBy>YASH PARMAR</cp:lastModifiedBy>
  <cp:revision>1</cp:revision>
  <dcterms:created xsi:type="dcterms:W3CDTF">2026-02-27T17:14:32Z</dcterms:created>
  <dcterms:modified xsi:type="dcterms:W3CDTF">2026-02-27T17:14:32Z</dcterms:modified>
</cp:coreProperties>
</file>